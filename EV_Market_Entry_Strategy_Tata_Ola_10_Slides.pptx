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EV demand index</c:v>
                </c:pt>
              </c:strCache>
            </c:strRef>
          </c:tx>
          <c:spPr>
            <a:solidFill>
              <a:srgbClr val="00A6A6"/>
            </a:solidFill>
          </c:spPr>
          <c:cat>
            <c:strRef>
              <c:f>Sheet1!$A$2:$A$4</c:f>
              <c:strCache>
                <c:ptCount val="3"/>
                <c:pt idx="0">
                  <c:v>Low subsidy</c:v>
                </c:pt>
                <c:pt idx="1">
                  <c:v>Medium subsidy</c:v>
                </c:pt>
                <c:pt idx="2">
                  <c:v>High subsidy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100</c:v>
                </c:pt>
                <c:pt idx="2">
                  <c:v>124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EV registrations</c:v>
                </c:pt>
              </c:strCache>
            </c:strRef>
          </c:tx>
          <c:spPr>
            <a:ln w="31750">
              <a:solidFill>
                <a:srgbClr val="674CAD"/>
              </a:solidFill>
            </a:ln>
          </c:spPr>
          <c:dPt>
            <c:idx val="0"/>
            <c:spPr>
              <a:solidFill>
                <a:srgbClr val="674CAD"/>
              </a:solidFill>
            </c:spPr>
          </c:dPt>
          <c:dPt>
            <c:idx val="1"/>
            <c:spPr>
              <a:solidFill>
                <a:srgbClr val="674CAD"/>
              </a:solidFill>
            </c:spPr>
          </c:dPt>
          <c:dPt>
            <c:idx val="2"/>
            <c:spPr>
              <a:solidFill>
                <a:srgbClr val="674CAD"/>
              </a:solidFill>
            </c:spPr>
          </c:dPt>
          <c:dPt>
            <c:idx val="3"/>
            <c:spPr>
              <a:solidFill>
                <a:srgbClr val="674CAD"/>
              </a:solidFill>
            </c:spPr>
          </c:dPt>
          <c:dPt>
            <c:idx val="4"/>
            <c:spPr>
              <a:solidFill>
                <a:srgbClr val="674CAD"/>
              </a:solidFill>
            </c:spPr>
          </c:dPt>
          <c:dPt>
            <c:idx val="5"/>
            <c:spPr>
              <a:solidFill>
                <a:srgbClr val="674CAD"/>
              </a:solidFill>
            </c:spPr>
          </c:dPt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Q1</c:v>
                </c:pt>
                <c:pt idx="5">
                  <c:v>Q2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39</c:v>
                </c:pt>
                <c:pt idx="2">
                  <c:v>47</c:v>
                </c:pt>
                <c:pt idx="3">
                  <c:v>55</c:v>
                </c:pt>
                <c:pt idx="4">
                  <c:v>66</c:v>
                </c:pt>
                <c:pt idx="5">
                  <c:v>79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365760"/>
            <a:ext cx="1920240" cy="192024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0"/>
            <a:ext cx="1005840" cy="1005840"/>
          </a:xfrm>
          <a:prstGeom prst="ellipse">
            <a:avLst/>
          </a:prstGeom>
          <a:solidFill>
            <a:srgbClr val="F7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1828800"/>
            <a:ext cx="685800" cy="685800"/>
          </a:xfrm>
          <a:prstGeom prst="ellipse">
            <a:avLst/>
          </a:prstGeom>
          <a:solidFill>
            <a:srgbClr val="2BA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2926080"/>
            <a:ext cx="2560320" cy="2560320"/>
          </a:xfrm>
          <a:prstGeom prst="ellipse">
            <a:avLst/>
          </a:prstGeom>
          <a:solidFill>
            <a:srgbClr val="674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7863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EV MARKET ENTRY</a:t>
            </a:r>
            <a:br/>
            <a:r>
              <a:t>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BEF0EC"/>
                </a:solidFill>
                <a:latin typeface="Aptos"/>
              </a:rPr>
              <a:t>Tata Motors / Ola Electric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Economics • Business Environment • Python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77639"/>
            <a:ext cx="3749039" cy="54864"/>
          </a:xfrm>
          <a:prstGeom prst="rect">
            <a:avLst/>
          </a:prstGeom>
          <a:solidFill>
            <a:srgbClr val="F7911E"/>
          </a:solidFill>
          <a:ln>
            <a:solidFill>
              <a:srgbClr val="F7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224528"/>
            <a:ext cx="8046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1E8F0"/>
                </a:solidFill>
                <a:latin typeface="Aptos"/>
              </a:rPr>
              <a:t>Price elasticity • Adoption &amp; range anxiety • Economies of scale • Entry deterrence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EC8D7"/>
                </a:solidFill>
                <a:latin typeface="Aptos"/>
              </a:rPr>
              <a:t>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47E"/>
                </a:solidFill>
                <a:latin typeface="Aptos"/>
              </a:rPr>
              <a:t>EV MARKET ENTRY STRATEGY  •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33B"/>
                </a:solidFill>
                <a:latin typeface="Aptos"/>
              </a:rPr>
              <a:t>1. Introduction to the Topic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7724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E"/>
                </a:solidFill>
                <a:latin typeface="Aptos"/>
              </a:rPr>
              <a:t>India’s EV market: a strategic entry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33375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9903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233B"/>
                </a:solidFill>
                <a:latin typeface="Aptos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83480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Electric vehicles are moving from an early-adopter niche toward mass-market mobility.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Price, charging access, driving range and policy support strongly influence adoption.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Tata Motors and Ola Electric represent two different competitive routes: established auto scale vs. EV-focused challenger.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73152" cy="1920240"/>
          </a:xfrm>
          <a:prstGeom prst="rect">
            <a:avLst/>
          </a:prstGeom>
          <a:solidFill>
            <a:srgbClr val="F7911E"/>
          </a:solidFill>
          <a:ln>
            <a:solidFill>
              <a:srgbClr val="F7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99032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233B"/>
                </a:solidFill>
                <a:latin typeface="Aptos"/>
              </a:rPr>
              <a:t>Core strategic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937759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How should an EV entrant set price, build capacity and compete when subsidies, consumer confidence and rivals can change market outcomes?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2971800" cy="7315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365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CO1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0235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33B"/>
                </a:solidFill>
                <a:latin typeface="Aptos"/>
              </a:rPr>
              <a:t>Elasticity &amp; policy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457200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4572000"/>
            <a:ext cx="2971800" cy="73152"/>
          </a:xfrm>
          <a:prstGeom prst="rect">
            <a:avLst/>
          </a:prstGeom>
          <a:solidFill>
            <a:srgbClr val="F7911E"/>
          </a:solidFill>
          <a:ln>
            <a:solidFill>
              <a:srgbClr val="F7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7365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7911E"/>
                </a:solidFill>
                <a:latin typeface="Aptos"/>
              </a:rPr>
              <a:t>CO2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10235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33B"/>
                </a:solidFill>
                <a:latin typeface="Aptos"/>
              </a:rPr>
              <a:t>Competitive environment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457200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20" y="4572000"/>
            <a:ext cx="2971800" cy="73152"/>
          </a:xfrm>
          <a:prstGeom prst="rect">
            <a:avLst/>
          </a:prstGeom>
          <a:solidFill>
            <a:srgbClr val="674CAD"/>
          </a:solidFill>
          <a:ln>
            <a:solidFill>
              <a:srgbClr val="674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7365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4CAD"/>
                </a:solidFill>
                <a:latin typeface="Aptos"/>
              </a:rPr>
              <a:t>CO3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10235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33B"/>
                </a:solidFill>
                <a:latin typeface="Aptos"/>
              </a:rPr>
              <a:t>Python visualisation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47E"/>
                </a:solidFill>
                <a:latin typeface="Aptos"/>
              </a:rPr>
              <a:t>EV MARKET ENTRY STRATEGY  •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33B"/>
                </a:solidFill>
                <a:latin typeface="Aptos"/>
              </a:rPr>
              <a:t>2. Motivation for Carrying Out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7724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E"/>
                </a:solidFill>
                <a:latin typeface="Aptos"/>
              </a:rPr>
              <a:t>Why this EV market-entry problem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82296" cy="1874519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233B"/>
                </a:solidFill>
                <a:latin typeface="Aptos"/>
              </a:rPr>
              <a:t>Policy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3"/>
                </a:solidFill>
                <a:latin typeface="Aptos"/>
              </a:rPr>
              <a:t>Subsidy changes can alter effective prices and therefore demand.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32588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1325880"/>
            <a:ext cx="82296" cy="1874519"/>
          </a:xfrm>
          <a:prstGeom prst="rect">
            <a:avLst/>
          </a:prstGeom>
          <a:solidFill>
            <a:srgbClr val="F7911E"/>
          </a:solidFill>
          <a:ln>
            <a:solidFill>
              <a:srgbClr val="F7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5544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233B"/>
                </a:solidFill>
                <a:latin typeface="Aptos"/>
              </a:rPr>
              <a:t>Consumer uncertainty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39112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3"/>
                </a:solidFill>
                <a:latin typeface="Aptos"/>
              </a:rPr>
              <a:t>Range anxiety and charging availability can delay purchase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32588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1325880"/>
            <a:ext cx="82296" cy="1874519"/>
          </a:xfrm>
          <a:prstGeom prst="rect">
            <a:avLst/>
          </a:prstGeom>
          <a:solidFill>
            <a:srgbClr val="2BAD68"/>
          </a:solidFill>
          <a:ln>
            <a:solidFill>
              <a:srgbClr val="2BA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5544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233B"/>
                </a:solidFill>
                <a:latin typeface="Aptos"/>
              </a:rPr>
              <a:t>Scale economics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39112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3"/>
                </a:solidFill>
                <a:latin typeface="Aptos"/>
              </a:rPr>
              <a:t>Battery and vehicle production involve high fixed costs; scale can reduce average cost.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794760"/>
            <a:ext cx="82296" cy="1874519"/>
          </a:xfrm>
          <a:prstGeom prst="rect">
            <a:avLst/>
          </a:prstGeom>
          <a:solidFill>
            <a:srgbClr val="674CAD"/>
          </a:solidFill>
          <a:ln>
            <a:solidFill>
              <a:srgbClr val="674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233B"/>
                </a:solidFill>
                <a:latin typeface="Aptos"/>
              </a:rPr>
              <a:t>Competitive pressure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07992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3"/>
                </a:solidFill>
                <a:latin typeface="Aptos"/>
              </a:rPr>
              <a:t>Incumbents and focused EV players can respond through price, product and capacity moves.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379476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3794760"/>
            <a:ext cx="82296" cy="1874519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402336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233B"/>
                </a:solidFill>
                <a:latin typeface="Aptos"/>
              </a:rPr>
              <a:t>Data-driven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507992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3"/>
                </a:solidFill>
                <a:latin typeface="Aptos"/>
              </a:rPr>
              <a:t>Visual analytics helps managers communicate market patterns clearly.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379476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43800" y="3794760"/>
            <a:ext cx="82296" cy="1874519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402336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233B"/>
                </a:solidFill>
                <a:latin typeface="Aptos"/>
              </a:rPr>
              <a:t>Integrated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507992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3"/>
                </a:solidFill>
                <a:latin typeface="Aptos"/>
              </a:rPr>
              <a:t>Combines economics, business strategy and Python into one real-world case.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47E"/>
                </a:solidFill>
                <a:latin typeface="Aptos"/>
              </a:rPr>
              <a:t>EV MARKET ENTRY STRATEGY  •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33B"/>
                </a:solidFill>
                <a:latin typeface="Aptos"/>
              </a:rPr>
              <a:t>3. Objectives of the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7724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E"/>
                </a:solidFill>
                <a:latin typeface="Aptos"/>
              </a:rPr>
              <a:t>What the project aims to evaluate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577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452628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99032"/>
            <a:ext cx="51663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233B"/>
                </a:solidFill>
                <a:latin typeface="Aptos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166359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Estimate/interpret EV demand elasticity under price and subsidy changes.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Understand consumer adoption barriers, especially range anxiety and charging concerns.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Assess capacity expansion and economies-of-scale implications.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Apply Porter’s Five Forces to understand competitive entry and entry deterrence.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Use Python visualisations to convert market data into decision-ready insights.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23444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73152" cy="4526280"/>
          </a:xfrm>
          <a:prstGeom prst="rect">
            <a:avLst/>
          </a:prstGeom>
          <a:solidFill>
            <a:srgbClr val="674CAD"/>
          </a:solidFill>
          <a:ln>
            <a:solidFill>
              <a:srgbClr val="674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9903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233B"/>
                </a:solidFill>
                <a:latin typeface="Aptos"/>
              </a:rPr>
              <a:t>Why these subjects?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80060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CO1 Economics → predicts how price/policy interventions affect market outcomes.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CO2 Business Environment → explains industry rivalry, buyer/supplier power and entry barriers.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CO3 Python → creates clear, reproducible and publication-quality charts/dashboards.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Together → connects market demand + competitive strategy +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47E"/>
                </a:solidFill>
                <a:latin typeface="Aptos"/>
              </a:rPr>
              <a:t>EV MARKET ENTRY STRATEGY  •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33B"/>
                </a:solidFill>
                <a:latin typeface="Aptos"/>
              </a:rPr>
              <a:t>4A. CO1 — Economics: Demand &amp; Subsidy Elasticity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7724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E"/>
                </a:solidFill>
                <a:latin typeface="Aptos"/>
              </a:rPr>
              <a:t>Applying demand-supply analysis to EV pricing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54864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623560"/>
            <a:ext cx="5212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47E"/>
                </a:solidFill>
                <a:latin typeface="Aptos"/>
              </a:rPr>
              <a:t>Illustrative scenario — not observed market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51663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325880"/>
            <a:ext cx="73152" cy="4343400"/>
          </a:xfrm>
          <a:prstGeom prst="rect">
            <a:avLst/>
          </a:prstGeom>
          <a:solidFill>
            <a:srgbClr val="F7911E"/>
          </a:solidFill>
          <a:ln>
            <a:solidFill>
              <a:srgbClr val="F7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49047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233B"/>
                </a:solidFill>
                <a:latin typeface="Aptos"/>
              </a:rPr>
              <a:t>How to interpret elasticity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75488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Price elasticity of demand = % change in quantity demanded ÷ % change in price.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If demand is elastic, a price cut can create a proportionally larger rise in quantity demanded.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A subsidy lowers the effective consumer price and can shift demand upward.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Project method: compare historical/secondary EV prices, registrations and subsidy periods; estimate elasticity where data permit.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47E"/>
                </a:solidFill>
                <a:latin typeface="Aptos"/>
              </a:rPr>
              <a:t>EV MARKET ENTRY STRATEGY  •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33B"/>
                </a:solidFill>
                <a:latin typeface="Aptos"/>
              </a:rPr>
              <a:t>4B. CO2 — Business Environment: Adoption &amp; Porter’s Five Forces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7724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E"/>
                </a:solidFill>
                <a:latin typeface="Aptos"/>
              </a:rPr>
              <a:t>Consumer behaviour + competitive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233B"/>
                </a:solidFill>
                <a:latin typeface="Aptos"/>
              </a:rPr>
              <a:t>Consumer adoption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143000" cy="1188720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Awareness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EV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14884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9747E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9112" y="1783080"/>
            <a:ext cx="1143000" cy="1188720"/>
          </a:xfrm>
          <a:prstGeom prst="roundRect">
            <a:avLst/>
          </a:prstGeom>
          <a:solidFill>
            <a:srgbClr val="F7911E"/>
          </a:solidFill>
          <a:ln>
            <a:solidFill>
              <a:srgbClr val="F7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0552" y="1965960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Consideration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0552" y="2331720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Price +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4884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9747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2424" y="1783080"/>
            <a:ext cx="1143000" cy="1188720"/>
          </a:xfrm>
          <a:prstGeom prst="roundRect">
            <a:avLst/>
          </a:prstGeom>
          <a:solidFill>
            <a:srgbClr val="2BAD68"/>
          </a:solidFill>
          <a:ln>
            <a:solidFill>
              <a:srgbClr val="2BA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1965960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331720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Test drive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14884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9747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45736" y="1783080"/>
            <a:ext cx="1143000" cy="1188720"/>
          </a:xfrm>
          <a:prstGeom prst="roundRect">
            <a:avLst/>
          </a:prstGeom>
          <a:solidFill>
            <a:srgbClr val="674CAD"/>
          </a:solidFill>
          <a:ln>
            <a:solidFill>
              <a:srgbClr val="674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37175" y="1965960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Purchase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175" y="2331720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3375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233B"/>
                </a:solidFill>
                <a:latin typeface="Aptos"/>
              </a:rPr>
              <a:t>Range anxiety framing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49039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A33"/>
                </a:solidFill>
                <a:latin typeface="Aptos"/>
              </a:rPr>
              <a:t>Lower perceived range risk through real-world range information, charging-network visibility, battery warranty, route planning and convenient charging.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233B"/>
                </a:solidFill>
                <a:latin typeface="Aptos"/>
              </a:rPr>
              <a:t>Porter’s Five Forces — Indian EV industry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78308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920240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0233B"/>
                </a:solidFill>
                <a:latin typeface="Aptos"/>
              </a:rPr>
              <a:t>Rivalry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25856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C4646"/>
                </a:solidFill>
                <a:latin typeface="Aptos"/>
              </a:rPr>
              <a:t>HIGH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78308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1920240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0233B"/>
                </a:solidFill>
                <a:latin typeface="Aptos"/>
              </a:rPr>
              <a:t>New entrants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25856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7911E"/>
                </a:solidFill>
                <a:latin typeface="Aptos"/>
              </a:rPr>
              <a:t>MED–HIGH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92608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063240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0233B"/>
                </a:solidFill>
                <a:latin typeface="Aptos"/>
              </a:rPr>
              <a:t>Buyer power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40156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MED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292608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3063240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0233B"/>
                </a:solidFill>
                <a:latin typeface="Aptos"/>
              </a:rPr>
              <a:t>Supplier power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40156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4CAD"/>
                </a:solidFill>
                <a:latin typeface="Aptos"/>
              </a:rPr>
              <a:t>MED–HIGH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24927" y="406908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62088" y="4206240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0233B"/>
                </a:solidFill>
                <a:latin typeface="Aptos"/>
              </a:rPr>
              <a:t>Substitutes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2088" y="454456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AD68"/>
                </a:solidFill>
                <a:latin typeface="Aptos"/>
              </a:rPr>
              <a:t>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47E"/>
                </a:solidFill>
                <a:latin typeface="Aptos"/>
              </a:rPr>
              <a:t>EV MARKET ENTRY STRATEGY  •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33B"/>
                </a:solidFill>
                <a:latin typeface="Aptos"/>
              </a:rPr>
              <a:t>4C. CO3 — Python: Visual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7724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E"/>
                </a:solidFill>
                <a:latin typeface="Aptos"/>
              </a:rPr>
              <a:t>Matplotlib + Plotly for business reporting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25880"/>
          <a:ext cx="5577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623560"/>
            <a:ext cx="5212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47E"/>
                </a:solidFill>
                <a:latin typeface="Aptos"/>
              </a:rPr>
              <a:t>Illustrative trend for demonstration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325880"/>
            <a:ext cx="50749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6520" y="1325880"/>
            <a:ext cx="73152" cy="4343400"/>
          </a:xfrm>
          <a:prstGeom prst="rect">
            <a:avLst/>
          </a:prstGeom>
          <a:solidFill>
            <a:srgbClr val="674CAD"/>
          </a:solidFill>
          <a:ln>
            <a:solidFill>
              <a:srgbClr val="674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9047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233B"/>
                </a:solidFill>
                <a:latin typeface="Aptos"/>
              </a:rPr>
              <a:t>Python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Load data → clean missing values and standardise units.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Matplotlib → publication-quality static charts for the report.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Plotly → interactive charts with hover, filters and drill-down.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Possible dashboard views: price vs. registrations, subsidy periods, range/charging concerns, capacity and cost curves.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47E"/>
                </a:solidFill>
                <a:latin typeface="Aptos"/>
              </a:rPr>
              <a:t>EV MARKET ENTRY STRATEGY  •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33B"/>
                </a:solidFill>
                <a:latin typeface="Aptos"/>
              </a:rPr>
              <a:t>4D. Manufacturing Capacity &amp; Economies of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7724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E"/>
                </a:solidFill>
                <a:latin typeface="Aptos"/>
              </a:rPr>
              <a:t>CO3 decision: when should an EV firm expand?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21808"/>
            <a:ext cx="18288" cy="-3246120"/>
          </a:xfrm>
          <a:prstGeom prst="rect">
            <a:avLst/>
          </a:prstGeom>
          <a:solidFill>
            <a:srgbClr val="22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5321808"/>
            <a:ext cx="5212080" cy="18288"/>
          </a:xfrm>
          <a:prstGeom prst="rect">
            <a:avLst/>
          </a:prstGeom>
          <a:solidFill>
            <a:srgbClr val="22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747E"/>
                </a:solidFill>
                <a:latin typeface="Aptos"/>
              </a:rPr>
              <a:t>Average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54406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747E"/>
                </a:solidFill>
                <a:latin typeface="Aptos"/>
              </a:rPr>
              <a:t>Output / capacity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51560" y="3177875"/>
            <a:ext cx="77724" cy="25579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29284" y="3153167"/>
            <a:ext cx="77723" cy="24708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07007" y="3129010"/>
            <a:ext cx="77724" cy="24157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4731" y="3105100"/>
            <a:ext cx="77724" cy="23910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62455" y="3081145"/>
            <a:ext cx="77724" cy="23955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40179" y="3056878"/>
            <a:ext cx="77725" cy="24267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17904" y="3032059"/>
            <a:ext cx="77724" cy="24819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595628" y="3006477"/>
            <a:ext cx="77723" cy="25582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673351" y="2979957"/>
            <a:ext cx="77724" cy="26520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751075" y="2952361"/>
            <a:ext cx="77724" cy="27596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828799" y="2923593"/>
            <a:ext cx="77725" cy="28768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906524" y="2893596"/>
            <a:ext cx="77724" cy="29997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984248" y="2862360"/>
            <a:ext cx="77724" cy="31236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061972" y="2829915"/>
            <a:ext cx="77724" cy="32445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139696" y="2796335"/>
            <a:ext cx="77724" cy="33580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217420" y="2761735"/>
            <a:ext cx="77724" cy="34600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295144" y="2726268"/>
            <a:ext cx="77724" cy="35467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372868" y="2690127"/>
            <a:ext cx="77723" cy="36141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450591" y="2653535"/>
            <a:ext cx="77724" cy="36592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528315" y="2616746"/>
            <a:ext cx="77724" cy="36789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606039" y="2580037"/>
            <a:ext cx="77724" cy="36709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683763" y="2543706"/>
            <a:ext cx="77724" cy="36331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761487" y="2508066"/>
            <a:ext cx="77725" cy="35640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839212" y="2473437"/>
            <a:ext cx="77724" cy="34629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916936" y="2440144"/>
            <a:ext cx="77724" cy="33293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994660" y="2408509"/>
            <a:ext cx="77724" cy="31635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072384" y="2378845"/>
            <a:ext cx="77724" cy="29664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150108" y="2351452"/>
            <a:ext cx="77724" cy="27393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227832" y="2326612"/>
            <a:ext cx="77724" cy="24840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305556" y="2304580"/>
            <a:ext cx="77723" cy="22032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383279" y="2285584"/>
            <a:ext cx="77725" cy="18996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461004" y="2269820"/>
            <a:ext cx="77723" cy="15764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538727" y="2257447"/>
            <a:ext cx="77725" cy="12373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616452" y="2248585"/>
            <a:ext cx="77723" cy="8862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694175" y="2243312"/>
            <a:ext cx="77725" cy="5273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771900" y="2241665"/>
            <a:ext cx="77723" cy="1647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849623" y="2241665"/>
            <a:ext cx="77725" cy="1973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927348" y="2243638"/>
            <a:ext cx="77723" cy="5542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005071" y="2249180"/>
            <a:ext cx="77725" cy="9019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082796" y="2258199"/>
            <a:ext cx="77723" cy="12364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160519" y="2270563"/>
            <a:ext cx="77725" cy="15538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238244" y="2286101"/>
            <a:ext cx="77723" cy="18507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315967" y="2304608"/>
            <a:ext cx="77725" cy="21237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93692" y="2325845"/>
            <a:ext cx="77723" cy="23703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471415" y="2349548"/>
            <a:ext cx="77725" cy="25882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49140" y="2375430"/>
            <a:ext cx="77724" cy="27757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626864" y="2403187"/>
            <a:ext cx="77724" cy="29313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704588" y="2432500"/>
            <a:ext cx="77724" cy="30548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782312" y="2463048"/>
            <a:ext cx="77724" cy="31457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860036" y="2494505"/>
            <a:ext cx="77724" cy="32049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937760" y="2526554"/>
            <a:ext cx="77723" cy="32332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015483" y="2558886"/>
            <a:ext cx="77725" cy="32322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093208" y="2591208"/>
            <a:ext cx="77723" cy="32042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170931" y="2623250"/>
            <a:ext cx="77725" cy="31518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248656" y="2654768"/>
            <a:ext cx="77723" cy="30779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326379" y="2685547"/>
            <a:ext cx="77725" cy="29861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404104" y="2715408"/>
            <a:ext cx="77723" cy="28800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481827" y="2744208"/>
            <a:ext cx="77725" cy="27637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559552" y="2771845"/>
            <a:ext cx="77723" cy="26414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637275" y="2798259"/>
            <a:ext cx="77725" cy="25173"/>
          </a:xfrm>
          <a:prstGeom prst="line">
            <a:avLst/>
          </a:prstGeom>
          <a:ln w="31750">
            <a:solidFill>
              <a:srgbClr val="2BA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1143000" y="4572000"/>
            <a:ext cx="1143000" cy="457200"/>
          </a:xfrm>
          <a:prstGeom prst="roundRect">
            <a:avLst/>
          </a:prstGeom>
          <a:solidFill>
            <a:srgbClr val="E4F7EC"/>
          </a:solidFill>
          <a:ln>
            <a:solidFill>
              <a:srgbClr val="E4F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88720" y="4672584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BAD68"/>
                </a:solidFill>
                <a:latin typeface="Aptos"/>
              </a:rPr>
              <a:t>Economies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743200" y="4572000"/>
            <a:ext cx="1143000" cy="457200"/>
          </a:xfrm>
          <a:prstGeom prst="roundRect">
            <a:avLst/>
          </a:prstGeom>
          <a:solidFill>
            <a:srgbClr val="E0F6F5"/>
          </a:solidFill>
          <a:ln>
            <a:solidFill>
              <a:srgbClr val="E0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70632" y="4672584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A6A6"/>
                </a:solidFill>
                <a:latin typeface="Aptos"/>
              </a:rPr>
              <a:t>Efficient scale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43400" y="4572000"/>
            <a:ext cx="1143000" cy="457200"/>
          </a:xfrm>
          <a:prstGeom prst="roundRect">
            <a:avLst/>
          </a:prstGeom>
          <a:solidFill>
            <a:srgbClr val="FFEFDA"/>
          </a:solidFill>
          <a:ln>
            <a:solidFill>
              <a:srgbClr val="FF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70832" y="4672584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7911E"/>
                </a:solidFill>
                <a:latin typeface="Aptos"/>
              </a:rPr>
              <a:t>Capacity pressure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0" y="1417320"/>
            <a:ext cx="5166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00800" y="1417320"/>
            <a:ext cx="73152" cy="4297680"/>
          </a:xfrm>
          <a:prstGeom prst="rect">
            <a:avLst/>
          </a:prstGeom>
          <a:solidFill>
            <a:srgbClr val="2BAD68"/>
          </a:solidFill>
          <a:ln>
            <a:solidFill>
              <a:srgbClr val="2BA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29400" y="158191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233B"/>
                </a:solidFill>
                <a:latin typeface="Aptos"/>
              </a:rPr>
              <a:t>Strategic decision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29400" y="2011680"/>
            <a:ext cx="475488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High fixed costs make utilisation important: under-used plants can raise average cost.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Larger scale can lower per-unit manufacturing cost through fixed-cost spreading, purchasing power and process learning.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But excess capacity is risky if demand forecasts are too optimistic.</a:t>
            </a:r>
          </a:p>
          <a:p>
            <a:pPr>
              <a:spcAft>
                <a:spcPts val="900"/>
              </a:spcAft>
              <a:defRPr sz="1300">
                <a:solidFill>
                  <a:srgbClr val="222A33"/>
                </a:solidFill>
                <a:latin typeface="Aptos"/>
              </a:defRPr>
            </a:pPr>
            <a:r>
              <a:t>• Use scenario analysis: base demand / high demand / subsidy reduction.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47E"/>
                </a:solidFill>
                <a:latin typeface="Aptos"/>
              </a:rPr>
              <a:t>EV MARKET ENTRY STRATEGY  •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233B"/>
                </a:solidFill>
                <a:latin typeface="Aptos"/>
              </a:rPr>
              <a:t>5. Project Approach /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7724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E"/>
                </a:solidFill>
                <a:latin typeface="Aptos"/>
              </a:rPr>
              <a:t>From raw market data to strategic recommendation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17373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33B"/>
                </a:solidFill>
                <a:latin typeface="Aptos"/>
              </a:rPr>
              <a:t>1. 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56232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3"/>
                </a:solidFill>
                <a:latin typeface="Aptos"/>
              </a:rPr>
              <a:t>EV registrations, prices, subsidies, capacity, charging and industry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73152" cy="1737360"/>
          </a:xfrm>
          <a:prstGeom prst="rect">
            <a:avLst/>
          </a:prstGeom>
          <a:solidFill>
            <a:srgbClr val="F7911E"/>
          </a:solidFill>
          <a:ln>
            <a:solidFill>
              <a:srgbClr val="F7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173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33B"/>
                </a:solidFill>
                <a:latin typeface="Aptos"/>
              </a:rPr>
              <a:t>2. 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56232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3"/>
                </a:solidFill>
                <a:latin typeface="Aptos"/>
              </a:rPr>
              <a:t>Remove duplicates, handle missing values, align dates/units and document assumptions.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23444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234440"/>
            <a:ext cx="73152" cy="1737360"/>
          </a:xfrm>
          <a:prstGeom prst="rect">
            <a:avLst/>
          </a:prstGeom>
          <a:solidFill>
            <a:srgbClr val="674CAD"/>
          </a:solidFill>
          <a:ln>
            <a:solidFill>
              <a:srgbClr val="674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173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33B"/>
                </a:solidFill>
                <a:latin typeface="Aptos"/>
              </a:rPr>
              <a:t>3. Analyse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856232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3"/>
                </a:solidFill>
                <a:latin typeface="Aptos"/>
              </a:rPr>
              <a:t>Elasticity + demand/supply + Porter’s Five Forces + economies-of-scale scenarios.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832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383280"/>
            <a:ext cx="73152" cy="1737360"/>
          </a:xfrm>
          <a:prstGeom prst="rect">
            <a:avLst/>
          </a:prstGeom>
          <a:solidFill>
            <a:srgbClr val="2BAD68"/>
          </a:solidFill>
          <a:ln>
            <a:solidFill>
              <a:srgbClr val="2BA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33B"/>
                </a:solidFill>
                <a:latin typeface="Aptos"/>
              </a:rPr>
              <a:t>4. Visualise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05072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3"/>
                </a:solidFill>
                <a:latin typeface="Aptos"/>
              </a:rPr>
              <a:t>Matplotlib static charts + Plotly interactive views.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3832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383280"/>
            <a:ext cx="73152" cy="1737360"/>
          </a:xfrm>
          <a:prstGeom prst="rect">
            <a:avLst/>
          </a:prstGeom>
          <a:solidFill>
            <a:srgbClr val="DC4646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5661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33B"/>
                </a:solidFill>
                <a:latin typeface="Aptos"/>
              </a:rPr>
              <a:t>5.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005072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3"/>
                </a:solidFill>
                <a:latin typeface="Aptos"/>
              </a:rPr>
              <a:t>Identify price sensitivity, adoption barriers, scale risks and entry responses.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3832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383280"/>
            <a:ext cx="73152" cy="1737360"/>
          </a:xfrm>
          <a:prstGeom prst="rect">
            <a:avLst/>
          </a:prstGeom>
          <a:solidFill>
            <a:srgbClr val="10233B"/>
          </a:solidFill>
          <a:ln>
            <a:solidFill>
              <a:srgbClr val="10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5661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33B"/>
                </a:solidFill>
                <a:latin typeface="Aptos"/>
              </a:rPr>
              <a:t>6.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005072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3"/>
                </a:solidFill>
                <a:latin typeface="Aptos"/>
              </a:rPr>
              <a:t>Build evidence-based recommendation with limitations and next steps.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65099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233B"/>
                </a:solidFill>
                <a:latin typeface="Aptos"/>
              </a:rPr>
              <a:t>Expected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614416"/>
            <a:ext cx="9235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A market-entry recommendation linking price strategy, consumer adoption, capacity scale and competitive response.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47E"/>
                </a:solidFill>
                <a:latin typeface="Aptos"/>
              </a:rPr>
              <a:t>EV MARKET ENTRY STRATEGY  •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548640"/>
            <a:ext cx="2103120" cy="210312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2286000"/>
            <a:ext cx="914400" cy="914400"/>
          </a:xfrm>
          <a:prstGeom prst="ellipse">
            <a:avLst/>
          </a:prstGeom>
          <a:solidFill>
            <a:srgbClr val="F7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4297680"/>
            <a:ext cx="1371600" cy="1371600"/>
          </a:xfrm>
          <a:prstGeom prst="ellipse">
            <a:avLst/>
          </a:prstGeom>
          <a:solidFill>
            <a:srgbClr val="2BA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937760"/>
            <a:ext cx="1645920" cy="1645920"/>
          </a:xfrm>
          <a:prstGeom prst="ellipse">
            <a:avLst/>
          </a:prstGeom>
          <a:solidFill>
            <a:srgbClr val="674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EF0EC"/>
                </a:solidFill>
                <a:latin typeface="Aptos"/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383280"/>
            <a:ext cx="1828800" cy="54864"/>
          </a:xfrm>
          <a:prstGeom prst="rect">
            <a:avLst/>
          </a:prstGeom>
          <a:solidFill>
            <a:srgbClr val="F7911E"/>
          </a:solidFill>
          <a:ln>
            <a:solidFill>
              <a:srgbClr val="F7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EV Market Entry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8D2DC"/>
                </a:solidFill>
                <a:latin typeface="Aptos"/>
              </a:rPr>
              <a:t>Tata Motors / Ola Electric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47E"/>
                </a:solidFill>
                <a:latin typeface="Aptos"/>
              </a:rPr>
              <a:t>EV MARKET ENTRY STRATEGY  •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